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16"/>
  </p:notesMasterIdLst>
  <p:sldIdLst>
    <p:sldId id="268" r:id="rId2"/>
    <p:sldId id="271" r:id="rId3"/>
    <p:sldId id="261" r:id="rId4"/>
    <p:sldId id="258" r:id="rId5"/>
    <p:sldId id="259" r:id="rId6"/>
    <p:sldId id="260" r:id="rId7"/>
    <p:sldId id="262" r:id="rId8"/>
    <p:sldId id="263" r:id="rId9"/>
    <p:sldId id="264" r:id="rId10"/>
    <p:sldId id="269" r:id="rId11"/>
    <p:sldId id="265" r:id="rId12"/>
    <p:sldId id="270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AAF1C-331B-41E9-A82E-0E4E40CDD9E1}" type="datetimeFigureOut">
              <a:rPr lang="en-GB" smtClean="0"/>
              <a:t>22/09/2022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A3841-854A-4CE7-A535-93F77E806F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224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A3841-854A-4CE7-A535-93F77E806F3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322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7E52-1153-4B63-A60E-0716DE2DE167}" type="datetime1">
              <a:rPr lang="en-GB" smtClean="0"/>
              <a:t>22/09/2022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8993CDB3-7A61-489B-9657-9285F5B78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30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D020-A7E1-449A-A624-8E7C4015AA08}" type="datetime1">
              <a:rPr lang="en-GB" smtClean="0"/>
              <a:t>22/09/2022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3CDB3-7A61-489B-9657-9285F5B78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112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758D-7C18-4901-823A-8E6161056A04}" type="datetime1">
              <a:rPr lang="en-GB" smtClean="0"/>
              <a:t>22/09/2022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8993CDB3-7A61-489B-9657-9285F5B78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0116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4FED1-44EB-4A5F-9AFC-7DA2EF750FEC}" type="datetime1">
              <a:rPr lang="en-GB" smtClean="0"/>
              <a:t>22/09/2022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8993CDB3-7A61-489B-9657-9285F5B78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5334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A5178-B13F-4F45-A0AF-3306610CDF09}" type="datetime1">
              <a:rPr lang="en-GB" smtClean="0"/>
              <a:t>22/09/2022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8993CDB3-7A61-489B-9657-9285F5B78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043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CC13-8E25-455C-AB95-C45C3559E4F8}" type="datetime1">
              <a:rPr lang="en-GB" smtClean="0"/>
              <a:t>22/09/2022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3CDB3-7A61-489B-9657-9285F5B78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7360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6EDFE-D614-48AA-982D-DF35753485EA}" type="datetime1">
              <a:rPr lang="en-GB" smtClean="0"/>
              <a:t>22/09/2022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3CDB3-7A61-489B-9657-9285F5B78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2052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F0C44-9A01-4831-8878-5F34B95E3832}" type="datetime1">
              <a:rPr lang="en-GB" smtClean="0"/>
              <a:t>22/09/2022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3CDB3-7A61-489B-9657-9285F5B78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6118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829FF-DD1A-4149-9FEE-87E6491397B8}" type="datetime1">
              <a:rPr lang="en-GB" smtClean="0"/>
              <a:t>22/09/2022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8993CDB3-7A61-489B-9657-9285F5B78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6815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A2626-8D88-41C7-8201-B197F67D5090}" type="datetime1">
              <a:rPr lang="en-GB" smtClean="0"/>
              <a:t>22/09/2022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8993CDB3-7A61-489B-9657-9285F5B78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7970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28EE-7C44-4895-8F71-E329005A8097}" type="datetime1">
              <a:rPr lang="en-GB" smtClean="0"/>
              <a:t>22/09/2022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8993CDB3-7A61-489B-9657-9285F5B78E8C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05891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CDF05-1C4F-4B26-AB5E-262C0A2A2E35}" type="datetime1">
              <a:rPr lang="en-GB" smtClean="0"/>
              <a:t>22/09/2022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8993CDB3-7A61-489B-9657-9285F5B78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0835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83E66-267E-4434-9261-628821FAD893}" type="datetime1">
              <a:rPr lang="en-GB" smtClean="0"/>
              <a:t>22/09/2022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8993CDB3-7A61-489B-9657-9285F5B78E8C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04891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93CD4-6AC3-4B26-B02F-FB5101CA1909}" type="datetime1">
              <a:rPr lang="en-GB" smtClean="0"/>
              <a:t>22/09/2022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8993CDB3-7A61-489B-9657-9285F5B78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17160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CE77-4B7E-455D-A15D-02BD98B76D62}" type="datetime1">
              <a:rPr lang="en-GB" smtClean="0"/>
              <a:t>22/09/2022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3CDB3-7A61-489B-9657-9285F5B78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3728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58F69-F8C8-43F4-87FB-A497F1959E57}" type="datetime1">
              <a:rPr lang="en-GB" smtClean="0"/>
              <a:t>22/09/2022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3CDB3-7A61-489B-9657-9285F5B78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66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62A32-9675-451C-9BD0-49ED5F390888}" type="datetime1">
              <a:rPr lang="en-GB" smtClean="0"/>
              <a:t>22/09/2022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993CDB3-7A61-489B-9657-9285F5B78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8786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player.com/" TargetMode="External"/><Relationship Id="rId2" Type="http://schemas.openxmlformats.org/officeDocument/2006/relationships/hyperlink" Target="http://www.healthline.com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90C80-5A26-D6FD-27AA-107563DA7E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1680" y="1284119"/>
            <a:ext cx="6600451" cy="1280786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rial Black" panose="020B0A04020102020204" pitchFamily="34" charset="0"/>
              </a:rPr>
              <a:t>CLINICAL IMPORTANCE OF LIVER FUNCTION 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D558C5-63BD-A0CE-0714-544AA8F55A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           A PRESENTATION BY: AFUKIA TENI RUBBY AND </a:t>
            </a:r>
          </a:p>
          <a:p>
            <a:r>
              <a:rPr lang="en-US" b="1" dirty="0"/>
              <a:t>                                               OPHELIA NKRUMAH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73D52-7F27-7F42-700E-9AE660F3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3CDB3-7A61-489B-9657-9285F5B78E8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2535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47745-A3D1-B8BD-9A8D-EC4B18FA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3CDB3-7A61-489B-9657-9285F5B78E8C}" type="slidenum">
              <a:rPr lang="en-GB" smtClean="0"/>
              <a:t>2</a:t>
            </a:fld>
            <a:endParaRPr lang="en-GB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4AB6337-E3BE-2E4E-A27A-AA50DCEE46F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297" y="787783"/>
            <a:ext cx="7229475" cy="5110162"/>
          </a:xfrm>
        </p:spPr>
      </p:pic>
    </p:spTree>
    <p:extLst>
      <p:ext uri="{BB962C8B-B14F-4D97-AF65-F5344CB8AC3E}">
        <p14:creationId xmlns:p14="http://schemas.microsoft.com/office/powerpoint/2010/main" val="2197494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ANATOMY AND PHYSIOLOGY OF LIVER</a:t>
            </a:r>
            <a:endParaRPr lang="en-GB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300" dirty="0"/>
              <a:t>The liver is the </a:t>
            </a:r>
            <a:r>
              <a:rPr lang="en-US" sz="2300" b="1" dirty="0"/>
              <a:t>largest and heaviest(1.0-1.5kg) </a:t>
            </a:r>
            <a:r>
              <a:rPr lang="en-US" sz="2300" dirty="0"/>
              <a:t>organ in the body and also the only organ in the human body that can regenerate from damage or partial hepatectomy</a:t>
            </a:r>
            <a:r>
              <a:rPr lang="en-GB" sz="2300" dirty="0"/>
              <a:t>.</a:t>
            </a:r>
          </a:p>
          <a:p>
            <a:pPr>
              <a:buFont typeface="Wingdings" pitchFamily="2" charset="2"/>
              <a:buChar char="v"/>
            </a:pPr>
            <a:r>
              <a:rPr lang="en-US" sz="2300" dirty="0"/>
              <a:t>The liver is located at the </a:t>
            </a:r>
            <a:r>
              <a:rPr lang="en-US" sz="2300" b="1" dirty="0"/>
              <a:t>upper right</a:t>
            </a:r>
            <a:r>
              <a:rPr lang="en-US" sz="2300" dirty="0"/>
              <a:t> portion of the abdominal cavity, beneath the diaphragm, and on top of the stomach, right kidney, and intestines.</a:t>
            </a:r>
          </a:p>
          <a:p>
            <a:pPr>
              <a:buFont typeface="Wingdings" pitchFamily="2" charset="2"/>
              <a:buChar char="v"/>
            </a:pPr>
            <a:r>
              <a:rPr lang="en-US" sz="2300" dirty="0"/>
              <a:t> The liver serves functions such as </a:t>
            </a:r>
            <a:r>
              <a:rPr lang="en-US" sz="2300" b="1" dirty="0"/>
              <a:t>metabolism, storage, detoxification and synthetic.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869F31-9DF1-BAB2-8959-AA7861B89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3CDB3-7A61-489B-9657-9285F5B78E8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3362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-172655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/>
              <a:t>SYMPTOMS WARRANTING REQUEST</a:t>
            </a:r>
            <a:br>
              <a:rPr lang="en-US" b="1" dirty="0"/>
            </a:br>
            <a:r>
              <a:rPr lang="en-US" b="1" dirty="0"/>
              <a:t>OF  LFT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800" b="1" dirty="0"/>
              <a:t>Chronic Fatigue</a:t>
            </a:r>
          </a:p>
          <a:p>
            <a:pPr>
              <a:buFont typeface="Wingdings" pitchFamily="2" charset="2"/>
              <a:buChar char="v"/>
            </a:pPr>
            <a:r>
              <a:rPr lang="en-US" sz="2800" b="1" dirty="0"/>
              <a:t>Jaundice</a:t>
            </a:r>
          </a:p>
          <a:p>
            <a:pPr>
              <a:buFont typeface="Wingdings" pitchFamily="2" charset="2"/>
              <a:buChar char="v"/>
            </a:pPr>
            <a:r>
              <a:rPr lang="en-US" sz="2800" b="1" dirty="0"/>
              <a:t>Pain and distention of the abdomen</a:t>
            </a:r>
          </a:p>
          <a:p>
            <a:pPr>
              <a:buFont typeface="Wingdings" pitchFamily="2" charset="2"/>
              <a:buChar char="v"/>
            </a:pPr>
            <a:r>
              <a:rPr lang="en-US" sz="2800" b="1" dirty="0"/>
              <a:t>Dark colored urine</a:t>
            </a:r>
          </a:p>
          <a:p>
            <a:pPr>
              <a:buFont typeface="Wingdings" pitchFamily="2" charset="2"/>
              <a:buChar char="v"/>
            </a:pPr>
            <a:r>
              <a:rPr lang="en-US" sz="2800" b="1" dirty="0"/>
              <a:t>Nausea</a:t>
            </a:r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GB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C714E-4DF9-1B32-E2B1-64C2958E8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3CDB3-7A61-489B-9657-9285F5B78E8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0783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CLINICAL IMPORTANCE OF LFT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500" b="1" dirty="0"/>
              <a:t>Screening</a:t>
            </a:r>
          </a:p>
          <a:p>
            <a:pPr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500" b="1" dirty="0"/>
              <a:t>Assess Prognosis</a:t>
            </a:r>
          </a:p>
          <a:p>
            <a:pPr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500" b="1" dirty="0"/>
              <a:t>Diagnosis</a:t>
            </a:r>
          </a:p>
          <a:p>
            <a:pPr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500" b="1" dirty="0"/>
              <a:t>Evaluate Therapy</a:t>
            </a:r>
          </a:p>
          <a:p>
            <a:pPr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500" b="1" dirty="0"/>
              <a:t>Determine the severity of a disease</a:t>
            </a:r>
          </a:p>
          <a:p>
            <a:pPr marL="0" indent="0">
              <a:lnSpc>
                <a:spcPct val="200000"/>
              </a:lnSpc>
              <a:buNone/>
            </a:pPr>
            <a:endParaRPr lang="en-US" sz="2500" b="1" dirty="0"/>
          </a:p>
          <a:p>
            <a:pPr>
              <a:buFont typeface="Wingdings" pitchFamily="2" charset="2"/>
              <a:buChar char="v"/>
            </a:pPr>
            <a:endParaRPr lang="en-US" sz="2500" b="1" dirty="0"/>
          </a:p>
          <a:p>
            <a:pPr>
              <a:buFont typeface="Wingdings" pitchFamily="2" charset="2"/>
              <a:buChar char="v"/>
            </a:pP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88A8FE-8130-C98D-533C-1B39C681A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3CDB3-7A61-489B-9657-9285F5B78E8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744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PARAMETERS OF LFT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000" b="1" dirty="0"/>
              <a:t>  </a:t>
            </a:r>
            <a:r>
              <a:rPr lang="en-US" sz="2300" b="1" dirty="0"/>
              <a:t>PROTEINS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300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300" b="1" dirty="0"/>
              <a:t>  LIVER ENZYMES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300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2300" b="1" dirty="0"/>
              <a:t>  SERUM BILIRUBIN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FE8BB-4B72-3988-AE6B-E51E2C52A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3CDB3-7A61-489B-9657-9285F5B78E8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3487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MARKERS OF HEPATIC SYNTHETIC CAPACITY OF THE LIVER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300" b="1" dirty="0"/>
              <a:t>PROTHROMBIN TIME</a:t>
            </a:r>
            <a:r>
              <a:rPr lang="en-US" sz="2300" dirty="0"/>
              <a:t>- Used mainly to assess how well the liver is performing its synthetic function concerning the production of clotting factors.</a:t>
            </a:r>
          </a:p>
          <a:p>
            <a:pPr>
              <a:buFont typeface="Wingdings" pitchFamily="2" charset="2"/>
              <a:buChar char="Ø"/>
            </a:pPr>
            <a:endParaRPr lang="en-US" sz="2300" dirty="0"/>
          </a:p>
          <a:p>
            <a:pPr>
              <a:buFont typeface="Wingdings" pitchFamily="2" charset="2"/>
              <a:buChar char="Ø"/>
            </a:pPr>
            <a:r>
              <a:rPr lang="en-US" sz="2300" b="1" dirty="0"/>
              <a:t>ALBUMIN</a:t>
            </a:r>
            <a:r>
              <a:rPr lang="en-US" sz="2300" dirty="0"/>
              <a:t>- Increase of albumin is seen in sepsis, burns etc. and a decrease of albumin can be due to malnutrition, cancer, cirrhosis or first few weeks of pregnancy.</a:t>
            </a:r>
            <a:endParaRPr lang="en-GB" sz="23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631E01-04E7-8817-0879-A25E7B7E7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3CDB3-7A61-489B-9657-9285F5B78E8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9553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MARKERS OF HEPATOCELLULAR NECROSIS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ts val="3000"/>
              </a:spcBef>
              <a:buFont typeface="Wingdings" pitchFamily="2" charset="2"/>
              <a:buChar char="Ø"/>
            </a:pPr>
            <a:r>
              <a:rPr lang="en-US" sz="2500" dirty="0"/>
              <a:t>Increased ALT,AST and GGT as a result of their leakage from the damaged hepatocytes, alcohol abuse, obesity, diabetes, drug hepatoxicity. </a:t>
            </a:r>
          </a:p>
          <a:p>
            <a:pPr>
              <a:spcBef>
                <a:spcPts val="3000"/>
              </a:spcBef>
              <a:buFont typeface="Wingdings" pitchFamily="2" charset="2"/>
              <a:buChar char="Ø"/>
            </a:pPr>
            <a:r>
              <a:rPr lang="en-US" sz="2500" dirty="0"/>
              <a:t>An elevated amount of ALT and AST means damaged hepatocytes</a:t>
            </a:r>
          </a:p>
          <a:p>
            <a:pPr>
              <a:spcBef>
                <a:spcPts val="3000"/>
              </a:spcBef>
              <a:buFont typeface="Wingdings" pitchFamily="2" charset="2"/>
              <a:buChar char="Ø"/>
            </a:pPr>
            <a:r>
              <a:rPr lang="en-US" sz="2500" dirty="0"/>
              <a:t>AST/ALT Ratio is useful in differential diagnosis; ratio = 1 indicates acute viral injury and a ratio &gt; than 2 indicates alcohol hepatitis</a:t>
            </a:r>
          </a:p>
          <a:p>
            <a:pPr>
              <a:buFont typeface="Wingdings" pitchFamily="2" charset="2"/>
              <a:buChar char="Ø"/>
            </a:pP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B24250-2540-34FA-50F6-08C309FEF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3CDB3-7A61-489B-9657-9285F5B78E8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3368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FATTY LIVER DISEASE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Symptoms include: </a:t>
            </a:r>
            <a:r>
              <a:rPr lang="en-US" b="1" dirty="0"/>
              <a:t>abdominal swelling, enlarged blood vessels just beneath the skin’s surface and red palms.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Results as a result of the reduced ability of the liver to breakdown fats leading to its build up on the liver. Intake of excess calories and obesity also contributes to a fatty liver.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 ALT is the specific marker that shoots out with a fatty liver.</a:t>
            </a:r>
          </a:p>
          <a:p>
            <a:pPr>
              <a:buFont typeface="Wingdings" pitchFamily="2" charset="2"/>
              <a:buChar char="Ø"/>
            </a:pP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8EC697-774F-CBA7-502C-3C58AE536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3CDB3-7A61-489B-9657-9285F5B78E8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3415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EC11B2A-C568-A5D9-44DD-FBEAEF9476F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980728"/>
            <a:ext cx="7560840" cy="5256584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CC1580-E1F1-A0B5-1782-4CE59F17F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3CDB3-7A61-489B-9657-9285F5B78E8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1429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CHOLESTASIS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sz="2500" dirty="0"/>
              <a:t>Condition in which the flow of bile is impeded and can also lead to the build up of bilirubin since bilirubin is the main pigment of bile.</a:t>
            </a:r>
          </a:p>
          <a:p>
            <a:pPr>
              <a:buFont typeface="Wingdings" pitchFamily="2" charset="2"/>
              <a:buChar char="Ø"/>
            </a:pPr>
            <a:r>
              <a:rPr lang="en-US" sz="2500" dirty="0"/>
              <a:t>Common symptoms include intense itching, dark urine and jaundice.</a:t>
            </a:r>
          </a:p>
          <a:p>
            <a:pPr>
              <a:buFont typeface="Wingdings" pitchFamily="2" charset="2"/>
              <a:buChar char="Ø"/>
            </a:pPr>
            <a:r>
              <a:rPr lang="en-US" sz="2500" dirty="0"/>
              <a:t>Increased serum concentration of conjugated bilirubin is a principal sign of cholestasis.</a:t>
            </a:r>
          </a:p>
          <a:p>
            <a:pPr>
              <a:buFont typeface="Wingdings" pitchFamily="2" charset="2"/>
              <a:buChar char="Ø"/>
            </a:pPr>
            <a:r>
              <a:rPr lang="en-US" sz="2500" dirty="0"/>
              <a:t>elevation of ALP and GGT is observed in cholestasis</a:t>
            </a:r>
            <a:r>
              <a:rPr lang="en-US" dirty="0"/>
              <a:t>.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13BED4-50D5-A9B2-AE41-3C549F064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3CDB3-7A61-489B-9657-9285F5B78E8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1757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3A2BF-40B0-59D9-A5E0-B05D7A991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3CDB3-7A61-489B-9657-9285F5B78E8C}" type="slidenum">
              <a:rPr lang="en-GB" smtClean="0"/>
              <a:t>12</a:t>
            </a:fld>
            <a:endParaRPr lang="en-GB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BCD4062-2BCE-4E73-AEFA-D9BC236E529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06" y="1412776"/>
            <a:ext cx="7535862" cy="4321175"/>
          </a:xfrm>
        </p:spPr>
      </p:pic>
    </p:spTree>
    <p:extLst>
      <p:ext uri="{BB962C8B-B14F-4D97-AF65-F5344CB8AC3E}">
        <p14:creationId xmlns:p14="http://schemas.microsoft.com/office/powerpoint/2010/main" val="49897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en-US" b="1" dirty="0">
                <a:hlinkClick r:id="rId2"/>
              </a:rPr>
              <a:t>www.healthline.com</a:t>
            </a:r>
            <a:endParaRPr lang="en-US" b="1" dirty="0"/>
          </a:p>
          <a:p>
            <a:pPr>
              <a:lnSpc>
                <a:spcPct val="250000"/>
              </a:lnSpc>
            </a:pPr>
            <a:r>
              <a:rPr lang="en-US" b="1" dirty="0">
                <a:hlinkClick r:id="rId3"/>
              </a:rPr>
              <a:t>https://slideplayer.com</a:t>
            </a:r>
            <a:endParaRPr lang="en-US" b="1" dirty="0"/>
          </a:p>
          <a:p>
            <a:pPr>
              <a:lnSpc>
                <a:spcPct val="110000"/>
              </a:lnSpc>
            </a:pPr>
            <a:r>
              <a:rPr lang="en-US" b="1" dirty="0"/>
              <a:t>CHEMICAL PATHOLOGY LECTURE NOTES II PAGES 31 AND 32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D8A54F-43FE-C60C-0F6A-D9C59AAB5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3CDB3-7A61-489B-9657-9285F5B78E8C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0086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4BFDB-E6B4-D4EF-4270-C1787FDB2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3CDB3-7A61-489B-9657-9285F5B78E8C}" type="slidenum">
              <a:rPr lang="en-GB" smtClean="0"/>
              <a:t>14</a:t>
            </a:fld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type="body" idx="4294967295"/>
          </p:nvPr>
        </p:nvSpPr>
        <p:spPr>
          <a:xfrm>
            <a:off x="2552700" y="4354513"/>
            <a:ext cx="6591300" cy="15557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             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EAB876E-A614-7331-7DC8-D9FA567FEB7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52700" y="609600"/>
            <a:ext cx="6591300" cy="3116263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b="1" dirty="0"/>
              <a:t>     </a:t>
            </a:r>
            <a:br>
              <a:rPr lang="en-US" b="1"/>
            </a:br>
            <a:r>
              <a:rPr lang="en-US" b="1"/>
              <a:t>     THANK </a:t>
            </a:r>
            <a:r>
              <a:rPr lang="en-US" b="1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94367492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1740</TotalTime>
  <Words>457</Words>
  <Application>Microsoft Office PowerPoint</Application>
  <PresentationFormat>On-screen Show (4:3)</PresentationFormat>
  <Paragraphs>124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Black</vt:lpstr>
      <vt:lpstr>Calibri</vt:lpstr>
      <vt:lpstr>Century Gothic</vt:lpstr>
      <vt:lpstr>Wingdings</vt:lpstr>
      <vt:lpstr>Wingdings 3</vt:lpstr>
      <vt:lpstr>Wisp</vt:lpstr>
      <vt:lpstr>CLINICAL IMPORTANCE OF LIVER FUNCTION TEST</vt:lpstr>
      <vt:lpstr>PowerPoint Presentation</vt:lpstr>
      <vt:lpstr>ANATOMY AND PHYSIOLOGY OF LIVER</vt:lpstr>
      <vt:lpstr> SYMPTOMS WARRANTING REQUEST OF  LFT</vt:lpstr>
      <vt:lpstr>CLINICAL IMPORTANCE OF LFT</vt:lpstr>
      <vt:lpstr>PARAMETERS OF LFT</vt:lpstr>
      <vt:lpstr>MARKERS OF HEPATIC SYNTHETIC CAPACITY OF THE LIVER</vt:lpstr>
      <vt:lpstr>MARKERS OF HEPATOCELLULAR NECROSIS</vt:lpstr>
      <vt:lpstr>FATTY LIVER DISEASE</vt:lpstr>
      <vt:lpstr>PowerPoint Presentation</vt:lpstr>
      <vt:lpstr>CHOLESTASIS</vt:lpstr>
      <vt:lpstr>PowerPoint Presentation</vt:lpstr>
      <vt:lpstr>REFERENCES</vt:lpstr>
      <vt:lpstr>            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CHEMISTRY</dc:title>
  <dc:creator>acer</dc:creator>
  <cp:lastModifiedBy>adda</cp:lastModifiedBy>
  <cp:revision>25</cp:revision>
  <dcterms:created xsi:type="dcterms:W3CDTF">2022-09-18T18:57:44Z</dcterms:created>
  <dcterms:modified xsi:type="dcterms:W3CDTF">2022-09-22T20:31:46Z</dcterms:modified>
</cp:coreProperties>
</file>