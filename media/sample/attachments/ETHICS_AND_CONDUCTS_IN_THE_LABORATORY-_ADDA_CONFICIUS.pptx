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6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5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9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8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07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3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1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8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7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6034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24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3923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24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65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3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CCB28-D4DB-4464-93B6-0D9D34B3C637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E54F75C-7D31-4EC3-BCF5-33E63FBEB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4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E732-C642-45BB-9A9B-E351E3162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8386" y="314738"/>
            <a:ext cx="8001000" cy="2971801"/>
          </a:xfrm>
        </p:spPr>
        <p:txBody>
          <a:bodyPr/>
          <a:lstStyle/>
          <a:p>
            <a:r>
              <a:rPr lang="en-US" spc="300" dirty="0">
                <a:solidFill>
                  <a:srgbClr val="7030A0"/>
                </a:solidFill>
                <a:latin typeface="Castellar" panose="020A0402060406010301" pitchFamily="18" charset="0"/>
              </a:rPr>
              <a:t>ETHICS AND CONDUCTS IN THE LABORATORY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B7675-86EF-4AA0-B7A4-3C64ABB46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3377" y="5569595"/>
            <a:ext cx="6400800" cy="1947333"/>
          </a:xfrm>
        </p:spPr>
        <p:txBody>
          <a:bodyPr/>
          <a:lstStyle/>
          <a:p>
            <a:r>
              <a:rPr lang="en-US" dirty="0"/>
              <a:t>A PRESENTATION BY ADDA CONFICIUS WEBADUA </a:t>
            </a:r>
          </a:p>
        </p:txBody>
      </p:sp>
    </p:spTree>
    <p:extLst>
      <p:ext uri="{BB962C8B-B14F-4D97-AF65-F5344CB8AC3E}">
        <p14:creationId xmlns:p14="http://schemas.microsoft.com/office/powerpoint/2010/main" val="172386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3A04-4BF8-4667-B62D-82417522F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29FB-16A4-455E-8C5C-931DB95BE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MEANING OF ETHICS AND PROFESSIONAL ETHICS IN MLS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FEATURES OF PROFESSIONAL ETHICS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PRINCIPLES OF ETHICS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RULES OF PROFESSIONAL CONDUCT IN THE LABORATORY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OBLIGATIONS TO COLLEAGUES AND PROFESSION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PROFESSIONAL NEGLIGENCE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05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FB89-5153-4717-B02A-F8CB3DAB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WHAT IS ETHICS AND CODE OF CONDUCT?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525B0-7CCC-41E0-B80E-5BBC0CC28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i="1" dirty="0">
                <a:latin typeface="Eras Demi ITC" panose="020B0805030504020804" pitchFamily="34" charset="0"/>
              </a:rPr>
              <a:t>According to the Webster's dictionary ;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Eras Demi ITC" panose="020B08050305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Eras Demi ITC" panose="020B0805030504020804" pitchFamily="34" charset="0"/>
              </a:rPr>
              <a:t>Ethics is a set of moral principles: a theory or a system of moral values </a:t>
            </a:r>
          </a:p>
          <a:p>
            <a:pPr marL="0" indent="0">
              <a:buNone/>
            </a:pPr>
            <a:endParaRPr lang="en-US" sz="2800" dirty="0">
              <a:latin typeface="Eras Demi ITC" panose="020B08050305040208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Eras Demi ITC" panose="020B0805030504020804" pitchFamily="34" charset="0"/>
              </a:rPr>
              <a:t>Ethics are moral principles that govern a person’s behavior or the conducting of an activity.</a:t>
            </a:r>
          </a:p>
          <a:p>
            <a:endParaRPr lang="en-US" sz="2400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8E6F-F144-4ABA-B1FA-31C3252D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PROFESSIONAL ETHICS (MLS)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CE52-08B2-4C91-930F-62F901383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Eras Demi ITC" panose="020B0805030504020804" pitchFamily="34" charset="0"/>
              </a:rPr>
              <a:t>These are moral principles that govern the conduction of activities in the medical laboratory.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Eras Demi ITC" panose="020B08050305040208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Eras Demi ITC" panose="020B0805030504020804" pitchFamily="34" charset="0"/>
              </a:rPr>
              <a:t>Ethics is an inherent and inseparable part of medical laboratory science </a:t>
            </a:r>
          </a:p>
          <a:p>
            <a:pPr marL="0" indent="0">
              <a:buNone/>
            </a:pPr>
            <a:endParaRPr lang="en-US" sz="2800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0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D21F-0303-4C43-B53D-1AB805A1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b="1" dirty="0"/>
              <a:t>PROFESSIONAL ETHICS: FEATURES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D9ED-07EA-48FF-90D7-08F3935BC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Eras Demi ITC" panose="020B0805030504020804" pitchFamily="34" charset="0"/>
              </a:rPr>
              <a:t>Have clear boundaries 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Have commonly accepted norms 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Enhance respect within and outside the profession 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Protect the rights of the client/patient 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Protect the rights and privileges of the client</a:t>
            </a:r>
          </a:p>
          <a:p>
            <a:endParaRPr lang="en-US" sz="2800" b="1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29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6B87-F6EB-41AD-8B5B-C094EBA4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ethics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58B1-A6BE-4A2E-A81D-7013A5738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Eras Demi ITC" panose="020B0805030504020804" pitchFamily="34" charset="0"/>
              </a:rPr>
              <a:t>AUTONOMY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BENEFICENCE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NONMALEFICENCE 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JUSTICE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CONFIDENTIALITY </a:t>
            </a:r>
          </a:p>
          <a:p>
            <a:r>
              <a:rPr lang="en-US" sz="2800" b="1" dirty="0">
                <a:latin typeface="Eras Demi ITC" panose="020B0805030504020804" pitchFamily="34" charset="0"/>
              </a:rPr>
              <a:t>DESSIPIATION OF KNOWLEDGE </a:t>
            </a:r>
          </a:p>
        </p:txBody>
      </p:sp>
    </p:spTree>
    <p:extLst>
      <p:ext uri="{BB962C8B-B14F-4D97-AF65-F5344CB8AC3E}">
        <p14:creationId xmlns:p14="http://schemas.microsoft.com/office/powerpoint/2010/main" val="8838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D7D8-1E0B-4D1A-A3F2-06D32711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RULES OF PROFESSIONAL CONDUCT IN THE LABORATORY.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41CB-AA1F-4F3D-97FE-DCF4900F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Eras Demi ITC" panose="020B0805030504020804" pitchFamily="34" charset="0"/>
              </a:rPr>
              <a:t>Ensure clients wellbeing is placed above personal interests.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Practice the principle of informed consent in patients care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Maintain strict confidentiality on all information gained during practice and protect patients right to confidentiality. 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Reduce patients suffering to the barest minimum 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9202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CBDF-8598-4F7F-A0BA-7AEF51B6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RULES OF PROFESSIONAL CONDUCT IN THE LABORATORY.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983E2-517D-49F9-922E-0161A300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Eras Demi ITC" panose="020B0805030504020804" pitchFamily="34" charset="0"/>
              </a:rPr>
              <a:t>Maintain professional integrity and respect to all patients with regard to their age, sex, culture, religion, ethnicity.</a:t>
            </a:r>
          </a:p>
          <a:p>
            <a:r>
              <a:rPr lang="en-US" sz="2400" dirty="0">
                <a:latin typeface="Eras Demi ITC" panose="020B0805030504020804" pitchFamily="34" charset="0"/>
              </a:rPr>
              <a:t>Ensure that tests are carried out with a high level of accuracy and timeliness </a:t>
            </a:r>
          </a:p>
          <a:p>
            <a:r>
              <a:rPr lang="en-US" sz="2400" dirty="0">
                <a:latin typeface="Eras Demi ITC" panose="020B0805030504020804" pitchFamily="34" charset="0"/>
              </a:rPr>
              <a:t>Be honest and realistic in reporting test results based on the available data.</a:t>
            </a:r>
          </a:p>
          <a:p>
            <a:r>
              <a:rPr lang="en-US" sz="2400" dirty="0">
                <a:latin typeface="Eras Demi ITC" panose="020B0805030504020804" pitchFamily="34" charset="0"/>
              </a:rPr>
              <a:t>Reject bribery in all its forms </a:t>
            </a:r>
          </a:p>
        </p:txBody>
      </p:sp>
    </p:spTree>
    <p:extLst>
      <p:ext uri="{BB962C8B-B14F-4D97-AF65-F5344CB8AC3E}">
        <p14:creationId xmlns:p14="http://schemas.microsoft.com/office/powerpoint/2010/main" val="427451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D83-A2D6-41DC-8FCE-46936588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RULES OF PROFESSIONAL CONDUCT IN THE LABORATORY.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3FB2-8CC5-4D6B-8456-612D3C2AD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Eras Demi ITC" panose="020B0805030504020804" pitchFamily="34" charset="0"/>
              </a:rPr>
              <a:t>All experimental studies, genetics or reproductive issues should comply with the institutional ethical standards and where such do not exist comply with the state or national ethical standards.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The work environment should be clean and observe all safety protocols 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A registered practitioner in full time employment in the public service shall not engage himself in extra private practice during official duty time under any circumstance.</a:t>
            </a:r>
          </a:p>
        </p:txBody>
      </p:sp>
    </p:spTree>
    <p:extLst>
      <p:ext uri="{BB962C8B-B14F-4D97-AF65-F5344CB8AC3E}">
        <p14:creationId xmlns:p14="http://schemas.microsoft.com/office/powerpoint/2010/main" val="313928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4304-34B6-4E56-AAF6-6AC35100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OBLIGATIONS TO COLLEAGUES AND PROFESSION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08C0F-AB20-48C2-96DD-322095BF9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latin typeface="Eras Demi ITC" panose="020B0805030504020804" pitchFamily="34" charset="0"/>
              </a:rPr>
              <a:t>Practice within one’s scope of professional competence </a:t>
            </a:r>
          </a:p>
          <a:p>
            <a:endParaRPr lang="en-US" sz="2400" b="1" dirty="0">
              <a:latin typeface="Eras Demi ITC" panose="020B0805030504020804" pitchFamily="34" charset="0"/>
            </a:endParaRPr>
          </a:p>
          <a:p>
            <a:r>
              <a:rPr lang="en-US" sz="2400" b="1" dirty="0">
                <a:latin typeface="Eras Demi ITC" panose="020B0805030504020804" pitchFamily="34" charset="0"/>
              </a:rPr>
              <a:t>Where service is beyond one’s capacity he/she should summon another professional with the necessary capacity or refer patient appropriately.</a:t>
            </a:r>
          </a:p>
          <a:p>
            <a:endParaRPr lang="en-US" sz="2400" b="1" dirty="0">
              <a:latin typeface="Eras Demi ITC" panose="020B0805030504020804" pitchFamily="34" charset="0"/>
            </a:endParaRPr>
          </a:p>
          <a:p>
            <a:r>
              <a:rPr lang="en-US" sz="2400" b="1" dirty="0">
                <a:latin typeface="Eras Demi ITC" panose="020B0805030504020804" pitchFamily="34" charset="0"/>
              </a:rPr>
              <a:t>Share knowledge among colleagues with a view of promoting learning and professionalism 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Treat colleagues with respect at all times </a:t>
            </a:r>
          </a:p>
          <a:p>
            <a:endParaRPr lang="en-US" sz="2400" b="1" dirty="0">
              <a:latin typeface="Eras Demi ITC" panose="020B0805030504020804" pitchFamily="34" charset="0"/>
            </a:endParaRPr>
          </a:p>
          <a:p>
            <a:endParaRPr lang="en-US" sz="2400" b="1" dirty="0">
              <a:latin typeface="Eras Demi ITC" panose="020B0805030504020804" pitchFamily="34" charset="0"/>
            </a:endParaRPr>
          </a:p>
          <a:p>
            <a:endParaRPr lang="en-US" sz="2400" b="1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6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0DAB-9B86-4F72-AFC3-7221B1ED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PROFESSIONAL NEGLIGENCE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4CA6-C203-450A-BED3-31D9E45E3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Eras Demi ITC" panose="020B0805030504020804" pitchFamily="34" charset="0"/>
              </a:rPr>
              <a:t>This includes:</a:t>
            </a:r>
          </a:p>
          <a:p>
            <a:r>
              <a:rPr lang="en-US" sz="2400" b="1" dirty="0" err="1">
                <a:latin typeface="Eras Demi ITC" panose="020B0805030504020804" pitchFamily="34" charset="0"/>
              </a:rPr>
              <a:t>Falcification</a:t>
            </a:r>
            <a:r>
              <a:rPr lang="en-US" sz="2400" b="1" dirty="0">
                <a:latin typeface="Eras Demi ITC" panose="020B0805030504020804" pitchFamily="34" charset="0"/>
              </a:rPr>
              <a:t> of laboratory documentation and patients results 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Destruction, theft of equipment and tempering specimens or materials </a:t>
            </a:r>
          </a:p>
          <a:p>
            <a:r>
              <a:rPr lang="en-US" sz="2400" b="1" dirty="0">
                <a:latin typeface="Eras Demi ITC" panose="020B0805030504020804" pitchFamily="34" charset="0"/>
              </a:rPr>
              <a:t>Use of abusive words, physical threat or harmful behavior</a:t>
            </a:r>
          </a:p>
          <a:p>
            <a:pPr marL="0" indent="0">
              <a:buNone/>
            </a:pPr>
            <a:r>
              <a:rPr lang="en-US" sz="2400" b="1" dirty="0">
                <a:latin typeface="Eras Demi ITC" panose="020B0805030504020804" pitchFamily="34" charset="0"/>
              </a:rPr>
              <a:t> </a:t>
            </a:r>
          </a:p>
          <a:p>
            <a:pPr marL="0" indent="0">
              <a:buNone/>
            </a:pPr>
            <a:endParaRPr lang="en-US" sz="2400" b="1" dirty="0">
              <a:latin typeface="Eras Demi ITC" panose="020B08050305040208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25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1D8B-5CF1-4C75-9109-D90D4E10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OBLIGATIONS IN CASES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BB15-06A7-4748-B665-2A5A34E0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b="1" dirty="0"/>
              <a:t>CONFIDENTIALITY: WHY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1" dirty="0">
              <a:latin typeface="Eras Demi ITC" panose="020B08050305040208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Eras Demi ITC" panose="020B0805030504020804" pitchFamily="34" charset="0"/>
              </a:rPr>
              <a:t>Public knowledge of health records can cause discrimination and embarrassment.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Eras Demi ITC" panose="020B0805030504020804" pitchFamily="34" charset="0"/>
              </a:rPr>
              <a:t>Required by law and professional code, a breach of which can lead to legal action against an organization and employee </a:t>
            </a:r>
          </a:p>
        </p:txBody>
      </p:sp>
    </p:spTree>
    <p:extLst>
      <p:ext uri="{BB962C8B-B14F-4D97-AF65-F5344CB8AC3E}">
        <p14:creationId xmlns:p14="http://schemas.microsoft.com/office/powerpoint/2010/main" val="168932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93F6D-0AF9-4C6F-98ED-3FC2440A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67D2-C351-49DC-A45A-BD7DF7868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latin typeface="Eras Demi ITC" panose="020B0805030504020804" pitchFamily="34" charset="0"/>
              </a:rPr>
              <a:t>CONFIDENTIALITY: WHAT IS COVERED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Eras Demi ITC" panose="020B0805030504020804" pitchFamily="34" charset="0"/>
              </a:rPr>
              <a:t>Personal information that can identify a patient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Eras Demi ITC" panose="020B0805030504020804" pitchFamily="34" charset="0"/>
              </a:rPr>
              <a:t>Treatment information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Eras Demi ITC" panose="020B0805030504020804" pitchFamily="34" charset="0"/>
              </a:rPr>
              <a:t>Details about illness/ diagnosis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Eras Demi ITC" panose="020B0805030504020804" pitchFamily="34" charset="0"/>
              </a:rPr>
              <a:t>Medical record </a:t>
            </a:r>
          </a:p>
        </p:txBody>
      </p:sp>
    </p:spTree>
    <p:extLst>
      <p:ext uri="{BB962C8B-B14F-4D97-AF65-F5344CB8AC3E}">
        <p14:creationId xmlns:p14="http://schemas.microsoft.com/office/powerpoint/2010/main" val="359210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5FA8-BBEE-4473-9C3E-C2F09622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REFERENCES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3A44-89E1-4E35-83CA-1FDC60FBC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Bahnschrift" panose="020B0502040204020203" pitchFamily="34" charset="0"/>
              </a:rPr>
              <a:t>WIKIPEDIA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Bahnschrift" panose="020B0502040204020203" pitchFamily="34" charset="0"/>
              </a:rPr>
              <a:t>WEBSTER’S DICTIONARY 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Bahnschrift" panose="020B0502040204020203" pitchFamily="34" charset="0"/>
              </a:rPr>
              <a:t>WWW.KARGER.COM 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Bahnschrift" panose="020B0502040204020203" pitchFamily="34" charset="0"/>
              </a:rPr>
              <a:t>WWW.NCBI.NLM.GOV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5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3835</TotalTime>
  <Words>515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Bahnschrift</vt:lpstr>
      <vt:lpstr>Castellar</vt:lpstr>
      <vt:lpstr>Century Gothic</vt:lpstr>
      <vt:lpstr>Eras Demi ITC</vt:lpstr>
      <vt:lpstr>Wingdings</vt:lpstr>
      <vt:lpstr>Wingdings 3</vt:lpstr>
      <vt:lpstr>Wisp</vt:lpstr>
      <vt:lpstr>ETHICS AND CONDUCTS IN THE LABORATORY</vt:lpstr>
      <vt:lpstr>OBJECTIVES </vt:lpstr>
      <vt:lpstr>WHAT IS ETHICS AND CODE OF CONDUCT? </vt:lpstr>
      <vt:lpstr>PROFESSIONAL ETHICS (MLS)</vt:lpstr>
      <vt:lpstr>PROFESSIONAL ETHICS: FEATURES   </vt:lpstr>
      <vt:lpstr>Principles of ethics </vt:lpstr>
      <vt:lpstr>RULES OF PROFESSIONAL CONDUCT IN THE LABORATORY.</vt:lpstr>
      <vt:lpstr>RULES OF PROFESSIONAL CONDUCT IN THE LABORATORY.</vt:lpstr>
      <vt:lpstr>RULES OF PROFESSIONAL CONDUCT IN THE LABORATORY.</vt:lpstr>
      <vt:lpstr>OBLIGATIONS TO COLLEAGUES AND PROFESSION</vt:lpstr>
      <vt:lpstr>PROFESSIONAL NEGLIGENCE </vt:lpstr>
      <vt:lpstr>ETHICAL OBLIGATIONS IN CASES </vt:lpstr>
      <vt:lpstr>PowerPoint Presentation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CONDUCTS IN THE LABORATORY</dc:title>
  <dc:creator>adda conficius</dc:creator>
  <cp:lastModifiedBy>adda conficius</cp:lastModifiedBy>
  <cp:revision>30</cp:revision>
  <dcterms:created xsi:type="dcterms:W3CDTF">2022-09-04T09:15:38Z</dcterms:created>
  <dcterms:modified xsi:type="dcterms:W3CDTF">2022-09-08T23:15:21Z</dcterms:modified>
</cp:coreProperties>
</file>